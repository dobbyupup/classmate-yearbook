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100705"/>
            <a:ext cx="607949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charset="0"/>
                <a:cs typeface="PingFang SC Bold" charset="0"/>
              </a:rPr>
              <a:t>杨浦高校NFC毕业文创礼</a:t>
            </a:r>
            <a:endParaRPr sz="4200" b="1">
              <a:solidFill>
                <a:srgbClr val="000000"/>
              </a:solidFill>
              <a:latin typeface="PingFang SC Bold" charset="0"/>
              <a:cs typeface="PingFang SC Bold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7240" y="3877945"/>
            <a:ext cx="105156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06545"/>
            <a:ext cx="3484880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PingFang SC" panose="020B0400000000000000" charset="-122"/>
                <a:ea typeface="PingFang SC Regular" panose="020B0400000000000000" charset="-122"/>
              </a:rPr>
              <a:t>让毕业不散场，让人才有归航</a:t>
            </a:r>
            <a:endParaRPr sz="2000" b="0">
              <a:solidFill>
                <a:srgbClr val="5A5A5A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ingFang SC" panose="020B0604020202090204"/>
              </a:rPr>
              <a:t>杨浦区青年人才数字基础设施提案 · 2026</a:t>
            </a:r>
            <a:endParaRPr sz="1400" b="0">
              <a:solidFill>
                <a:srgbClr val="5A5A5A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853055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charset="0"/>
                <a:ea typeface="PingFang SC Bold" charset="0"/>
              </a:rPr>
              <a:t>一句话定义</a:t>
            </a:r>
            <a:endParaRPr sz="4200" b="1">
              <a:solidFill>
                <a:srgbClr val="000000"/>
              </a:solidFill>
              <a:latin typeface="PingFang SC Bold" charset="0"/>
              <a:ea typeface="PingFang SC Bold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95805" y="2560320"/>
            <a:ext cx="789559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>
                <a:solidFill>
                  <a:srgbClr val="000000"/>
                </a:solidFill>
                <a:latin typeface="PingFang SC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全国首个“电子同学录+校友社群+政策触达+城市记忆”NFC毕业文创礼</a:t>
            </a:r>
            <a:endParaRPr sz="360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PingFang SC" panose="020B0604020202090204"/>
              </a:rPr>
              <a:t>每位毕业生一枚NFC芯片，绑定终身ID；一碰即进入个人专属数字档案与校友网络</a:t>
            </a:r>
            <a:endParaRPr sz="1600" b="0">
              <a:solidFill>
                <a:srgbClr val="5A5A5A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117080" cy="7372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>
                <a:solidFill>
                  <a:srgbClr val="000000"/>
                </a:solidFill>
                <a:latin typeface="PingFang SC" panose="020B0400000000000000" charset="-122"/>
                <a:ea typeface="PingFang SC Regular" panose="020B0400000000000000" charset="-122"/>
              </a:rPr>
              <a:t>为什么是杨浦，为什么是现在</a:t>
            </a:r>
            <a:endParaRPr sz="420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497445" cy="15068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1. 全国密度最高的顶尖高校集群：复旦、同济、上财等</a:t>
            </a:r>
            <a:endParaRPr sz="2400" b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2. “知识杨浦”品牌在青年人才中已形成情感认同</a:t>
            </a:r>
            <a:endParaRPr sz="2400" b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3. 越早启动，越快形成数据资产与社群先发优势</a:t>
            </a:r>
            <a:endParaRPr sz="2400" b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ingFang SC" panose="020B0604020202090204"/>
              </a:rPr>
              <a:t>这不是毕业礼物，而是面向未来20年的青年人才基础设施。</a:t>
            </a:r>
            <a:endParaRPr sz="1400" b="0">
              <a:solidFill>
                <a:srgbClr val="5A5A5A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当前痛点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0">
                <a:solidFill>
                  <a:srgbClr val="000000"/>
                </a:solidFill>
                <a:latin typeface="PingFang SC" panose="020B0604020202090204"/>
              </a:rPr>
              <a:t>• 纸质同学录易丢失、不可更新</a:t>
            </a:r>
            <a:endParaRPr sz="26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600" b="0">
                <a:solidFill>
                  <a:srgbClr val="000000"/>
                </a:solidFill>
                <a:latin typeface="PingFang SC" panose="020B0604020202090204"/>
              </a:rPr>
              <a:t>• 校友关系毕业即“断联”</a:t>
            </a:r>
            <a:endParaRPr sz="26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600" b="0">
                <a:solidFill>
                  <a:srgbClr val="000000"/>
                </a:solidFill>
                <a:latin typeface="PingFang SC" panose="020B0604020202090204"/>
              </a:rPr>
              <a:t>• 政策触达效率低，仍是“人找政策”</a:t>
            </a:r>
            <a:endParaRPr sz="26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600" b="0">
                <a:solidFill>
                  <a:srgbClr val="000000"/>
                </a:solidFill>
                <a:latin typeface="PingFang SC" panose="020B0604020202090204"/>
              </a:rPr>
              <a:t>• 人才流向缺少实时、可信的数据抓手</a:t>
            </a:r>
            <a:endParaRPr sz="26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解决方案总览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电子同学录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校友活动广场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政策直达通道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人才流向数据后台（脱敏）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城市记忆入口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ingFang SC" panose="020B0604020202090204"/>
              </a:rPr>
              <a:t>情感连接 + 服务连接 + 数据连接，三位一体。</a:t>
            </a:r>
            <a:endParaRPr sz="14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模块① 电子同学录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PingFang SC" panose="020B0604020202090204"/>
              </a:rPr>
              <a:t>从一次填写，到终身可更新</a:t>
            </a:r>
            <a:endParaRPr sz="20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唯一NFC身份绑定，终身ID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语音留言祝福、视频永久保存、毕业照共创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联系方式/职业轨迹/家庭动态持续更新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十年后仍可精准找回同窗关系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模块② 校友活动广场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PingFang SC" panose="020B0604020202090204"/>
              </a:rPr>
              <a:t>打破校门围墙，形成跨校社群资产</a:t>
            </a:r>
            <a:endParaRPr sz="20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跨校联动活动：行业沙龙、创业对接、城市聚会、联谊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支持全国异地校友发起活动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“大学同学”升级为可运营社群网络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增强“杨浦校友圈”归属感与活跃度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模块③ 政策直达通道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PingFang SC" panose="020B0604020202090204"/>
              </a:rPr>
              <a:t>从“人找政策”到“政策找人”</a:t>
            </a:r>
            <a:endParaRPr sz="20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人才政策、创业扶持、安居补贴精准推送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依据就业/创业/回沪意向进行点对点触达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一键直达申请入口，提高政策转化率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300" b="0">
                <a:solidFill>
                  <a:srgbClr val="000000"/>
                </a:solidFill>
                <a:latin typeface="PingFang SC" panose="020B0604020202090204"/>
              </a:rPr>
              <a:t>• 支撑“毕业即入职杨浦”的转化链路</a:t>
            </a:r>
            <a:endParaRPr sz="23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模块④+⑤ 数据后台与城市记忆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PingFang SC" panose="020B0604020202090204"/>
              </a:rPr>
              <a:t>人才流向数据后台</a:t>
            </a:r>
            <a:endParaRPr sz="24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0" y="16459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PingFang SC" panose="020B0604020202090204"/>
              </a:rPr>
              <a:t>城市记忆入口</a:t>
            </a:r>
            <a:endParaRPr sz="24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PingFang SC" panose="020B0604020202090204"/>
              </a:rPr>
              <a:t>• 全流程脱敏聚合</a:t>
            </a:r>
            <a:endParaRPr sz="20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PingFang SC" panose="020B0604020202090204"/>
              </a:rPr>
              <a:t>• 留沪率、回沪趋势、行业分布实时可视</a:t>
            </a:r>
            <a:endParaRPr sz="20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PingFang SC" panose="020B0604020202090204"/>
              </a:rPr>
              <a:t>• 触达效果可追踪，支撑政策评估</a:t>
            </a:r>
            <a:endParaRPr sz="20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0" y="2194560"/>
            <a:ext cx="49377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PingFang SC" panose="020B0604020202090204"/>
              </a:rPr>
              <a:t>• 个性化杨浦打卡地图</a:t>
            </a:r>
            <a:endParaRPr sz="20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PingFang SC" panose="020B0604020202090204"/>
              </a:rPr>
              <a:t>• 高校周边文化与历史人文内容</a:t>
            </a:r>
            <a:endParaRPr sz="20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000000"/>
                </a:solidFill>
                <a:latin typeface="PingFang SC" panose="020B0604020202090204"/>
              </a:rPr>
              <a:t>• 每位毕业生专属“杨浦记忆页”</a:t>
            </a:r>
            <a:endParaRPr sz="20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对政府的核心价值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1. 实时看见人才流向，提升治理精度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2. 政策直通提升转化，增强人才粘性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3. 打造全国数字毕业文化IP，提升城市影响力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4. 促进回流消费、创业、置业，拉动经济与文化软实力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传播与出圈路径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0">
                <a:solidFill>
                  <a:srgbClr val="000000"/>
                </a:solidFill>
                <a:latin typeface="PingFang SC" panose="020B0604020202090204"/>
              </a:rPr>
              <a:t>产品发布  →  高校共创内容  →  抖音话题发酵  →  城市品牌出圈  →  校友持续回流</a:t>
            </a:r>
            <a:endParaRPr sz="22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</a:p>
          <a:p>
            <a:pPr algn="l">
              <a:spcAft>
                <a:spcPts val="1200"/>
              </a:spcAft>
            </a:pPr>
            <a:r>
              <a:rPr sz="2200" b="0">
                <a:solidFill>
                  <a:srgbClr val="000000"/>
                </a:solidFill>
                <a:latin typeface="PingFang SC" panose="020B0604020202090204"/>
              </a:rPr>
              <a:t>#杨浦毕业礼太卷了   #杨浦大学城数字毕业季   #毕业不散场</a:t>
            </a:r>
            <a:endParaRPr sz="22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时间推进表（3-6月）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14400" y="3291840"/>
            <a:ext cx="9601200" cy="182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315468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PingFang SC" panose="020B0604020202090204"/>
              </a:rPr>
              <a:t>3-4月</a:t>
            </a:r>
            <a:endParaRPr sz="1800" b="1">
              <a:solidFill>
                <a:srgbClr val="000000"/>
              </a:solidFill>
              <a:latin typeface="Arial" panose="020B0604020202090204"/>
            </a:endParaRPr>
          </a:p>
          <a:p>
            <a:r>
              <a:rPr sz="1400" b="0">
                <a:solidFill>
                  <a:srgbClr val="5A5A5A"/>
                </a:solidFill>
                <a:latin typeface="PingFang SC" panose="020B0604020202090204"/>
              </a:rPr>
              <a:t>方案确认、IP设计、NFC打样</a:t>
            </a:r>
            <a:endParaRPr sz="14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3291840" y="315468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01168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PingFang SC" panose="020B0604020202090204"/>
              </a:rPr>
              <a:t>4-5月</a:t>
            </a:r>
            <a:endParaRPr sz="1800" b="1">
              <a:solidFill>
                <a:srgbClr val="000000"/>
              </a:solidFill>
              <a:latin typeface="Arial" panose="020B0604020202090204"/>
            </a:endParaRPr>
          </a:p>
          <a:p>
            <a:r>
              <a:rPr sz="1400" b="0">
                <a:solidFill>
                  <a:srgbClr val="5A5A5A"/>
                </a:solidFill>
                <a:latin typeface="PingFang SC" panose="020B0604020202090204"/>
              </a:rPr>
              <a:t>高校试点对接（复旦/同济）</a:t>
            </a:r>
            <a:endParaRPr sz="14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8" name="Oval 7"/>
          <p:cNvSpPr/>
          <p:nvPr/>
        </p:nvSpPr>
        <p:spPr>
          <a:xfrm>
            <a:off x="5577840" y="315468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59" y="201168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PingFang SC" panose="020B0604020202090204"/>
              </a:rPr>
              <a:t>5-6月</a:t>
            </a:r>
            <a:endParaRPr sz="1800" b="1">
              <a:solidFill>
                <a:srgbClr val="000000"/>
              </a:solidFill>
              <a:latin typeface="Arial" panose="020B0604020202090204"/>
            </a:endParaRPr>
          </a:p>
          <a:p>
            <a:r>
              <a:rPr sz="1400" b="0">
                <a:solidFill>
                  <a:srgbClr val="5A5A5A"/>
                </a:solidFill>
                <a:latin typeface="PingFang SC" panose="020B0604020202090204"/>
              </a:rPr>
              <a:t>批量生产 + 抖音预热</a:t>
            </a:r>
            <a:endParaRPr sz="14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10" name="Oval 9"/>
          <p:cNvSpPr/>
          <p:nvPr/>
        </p:nvSpPr>
        <p:spPr>
          <a:xfrm>
            <a:off x="7863840" y="315468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011680"/>
            <a:ext cx="21945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PingFang SC" panose="020B0604020202090204"/>
              </a:rPr>
              <a:t>6月</a:t>
            </a:r>
            <a:endParaRPr sz="1800" b="1">
              <a:solidFill>
                <a:srgbClr val="000000"/>
              </a:solidFill>
              <a:latin typeface="Arial" panose="020B0604020202090204"/>
            </a:endParaRPr>
          </a:p>
          <a:p>
            <a:r>
              <a:rPr sz="1400" b="0">
                <a:solidFill>
                  <a:srgbClr val="5A5A5A"/>
                </a:solidFill>
                <a:latin typeface="PingFang SC" panose="020B0604020202090204"/>
              </a:rPr>
              <a:t>毕业季发放 + 话题引爆</a:t>
            </a:r>
            <a:endParaRPr sz="14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5A5A5A"/>
                </a:solidFill>
                <a:latin typeface="PingFang SC" panose="020B0604020202090204"/>
              </a:rPr>
              <a:t>后续复制到全国城市，形成杨浦IP先发优势。</a:t>
            </a:r>
            <a:endParaRPr sz="14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增长预估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PingFang SC" panose="020B0604020202090204"/>
              </a:rPr>
              <a:t>年新增约7万节点 · 5年累计约35万活跃校友节点</a:t>
            </a:r>
            <a:endParaRPr sz="36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PingFang SC" panose="020B0604020202090204"/>
              </a:rPr>
              <a:t>节点越多，政策触达效率、人才回流概率、城市品牌势能越强</a:t>
            </a:r>
            <a:endParaRPr sz="16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000000"/>
                </a:solidFill>
                <a:latin typeface="PingFang SC" panose="020B0604020202090204"/>
              </a:rPr>
              <a:t>风险与保障</a:t>
            </a:r>
            <a:endParaRPr sz="42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058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• 数据安全：脱敏处理、分级权限、合规审计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• 内容治理：实名认证与社区风控机制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• 运营持续：校地共建 + 市场化运营团队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  <a:p>
            <a:pPr algn="l">
              <a:spcAft>
                <a:spcPts val="1200"/>
              </a:spcAft>
            </a:pPr>
            <a:r>
              <a:rPr sz="2400" b="0">
                <a:solidFill>
                  <a:srgbClr val="000000"/>
                </a:solidFill>
                <a:latin typeface="PingFang SC" panose="020B0604020202090204"/>
              </a:rPr>
              <a:t>• 成本控制：先试点后扩容，分阶段投入</a:t>
            </a:r>
            <a:endParaRPr sz="2400" b="0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PingFang SC" panose="020B0604020202090204"/>
              </a:rPr>
              <a:t>让每一份毕业纪念，变成杨浦未来的人才连接器</a:t>
            </a:r>
            <a:endParaRPr sz="3600" b="1">
              <a:solidFill>
                <a:srgbClr val="000000"/>
              </a:solidFill>
              <a:latin typeface="Arial" panose="020B060402020209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PingFang SC" panose="020B0604020202090204"/>
              </a:rPr>
              <a:t>提案单位 / 日期 / 联系方式</a:t>
            </a:r>
            <a:endParaRPr sz="1600" b="0">
              <a:solidFill>
                <a:srgbClr val="5A5A5A"/>
              </a:solidFill>
              <a:latin typeface="Arial" panose="020B060402020209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64592"/>
            <a:ext cx="10698480" cy="9144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1234</Words>
  <Application>WPS 演示</Application>
  <PresentationFormat>On-screen Show (4:3)</PresentationFormat>
  <Paragraphs>124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4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Al Tarikh</vt:lpstr>
      <vt:lpstr>Al Bayan Plain</vt:lpstr>
      <vt:lpstr>Heiti SC Light</vt:lpstr>
      <vt:lpstr>标准粗黑</vt:lpstr>
      <vt:lpstr>WPS灵秀黑</vt:lpstr>
      <vt:lpstr>Lantinghei TC Extralight</vt:lpstr>
      <vt:lpstr>Hiragino Sans GB W3</vt:lpstr>
      <vt:lpstr>Hannotate SC Regular</vt:lpstr>
      <vt:lpstr>方正字迹-吕建德行楷简体</vt:lpstr>
      <vt:lpstr>PingFang TC Regular</vt:lpstr>
      <vt:lpstr>PingFang SC Regular</vt:lpstr>
      <vt:lpstr>Andale Mono</vt:lpstr>
      <vt:lpstr>American Typewriter Regular</vt:lpstr>
      <vt:lpstr>PingFang SC Bold</vt:lpstr>
      <vt:lpstr>苹方-简</vt:lpstr>
      <vt:lpstr>075-上首玉立体</vt:lpstr>
      <vt:lpstr>汉仪楷体KW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WPS_1761993924</cp:lastModifiedBy>
  <cp:revision>2</cp:revision>
  <dcterms:created xsi:type="dcterms:W3CDTF">2026-03-04T04:49:35Z</dcterms:created>
  <dcterms:modified xsi:type="dcterms:W3CDTF">2026-03-04T04:49:35Z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A33F5D8D24FD1984DFB9A769857F4E9E_42</vt:lpwstr>
  </property>
  <property fmtid="{D5CDD505-2E9C-101B-9397-08002B2CF9AE}" pid="3" name="KSOProductBuildVer">
    <vt:lpwstr>2052-12.1.23540.23540</vt:lpwstr>
  </property>
</Properties>
</file>